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9" r:id="rId8"/>
    <p:sldId id="271" r:id="rId9"/>
    <p:sldId id="272" r:id="rId10"/>
    <p:sldId id="273" r:id="rId11"/>
    <p:sldId id="270" r:id="rId12"/>
    <p:sldId id="268" r:id="rId13"/>
    <p:sldId id="264" r:id="rId14"/>
    <p:sldId id="277" r:id="rId15"/>
    <p:sldId id="266" r:id="rId16"/>
    <p:sldId id="275" r:id="rId17"/>
    <p:sldId id="276" r:id="rId18"/>
    <p:sldId id="265" r:id="rId19"/>
    <p:sldId id="267" r:id="rId20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014" y="-2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CFFFF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CFFFF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CFFFF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CFFFF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144" y="35052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144" y="4123944"/>
            <a:ext cx="3788663" cy="30845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71144" y="1082040"/>
            <a:ext cx="9144000" cy="18415"/>
          </a:xfrm>
          <a:custGeom>
            <a:avLst/>
            <a:gdLst/>
            <a:ahLst/>
            <a:cxnLst/>
            <a:rect l="l" t="t" r="r" b="b"/>
            <a:pathLst>
              <a:path w="9144000" h="18415">
                <a:moveTo>
                  <a:pt x="9144000" y="0"/>
                </a:moveTo>
                <a:lnTo>
                  <a:pt x="0" y="0"/>
                </a:lnTo>
                <a:lnTo>
                  <a:pt x="0" y="18287"/>
                </a:lnTo>
                <a:lnTo>
                  <a:pt x="9144000" y="18287"/>
                </a:lnTo>
                <a:lnTo>
                  <a:pt x="9144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144" y="35052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1144" y="4123944"/>
            <a:ext cx="3788663" cy="30845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71144" y="1082039"/>
            <a:ext cx="9144000" cy="18415"/>
          </a:xfrm>
          <a:custGeom>
            <a:avLst/>
            <a:gdLst/>
            <a:ahLst/>
            <a:cxnLst/>
            <a:rect l="l" t="t" r="r" b="b"/>
            <a:pathLst>
              <a:path w="9144000" h="18415">
                <a:moveTo>
                  <a:pt x="9144000" y="0"/>
                </a:moveTo>
                <a:lnTo>
                  <a:pt x="0" y="0"/>
                </a:lnTo>
                <a:lnTo>
                  <a:pt x="0" y="18287"/>
                </a:lnTo>
                <a:lnTo>
                  <a:pt x="9144000" y="18287"/>
                </a:lnTo>
                <a:lnTo>
                  <a:pt x="9144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71144" y="350520"/>
            <a:ext cx="9144000" cy="707390"/>
          </a:xfrm>
          <a:custGeom>
            <a:avLst/>
            <a:gdLst/>
            <a:ahLst/>
            <a:cxnLst/>
            <a:rect l="l" t="t" r="r" b="b"/>
            <a:pathLst>
              <a:path w="9144000" h="707390">
                <a:moveTo>
                  <a:pt x="9144000" y="0"/>
                </a:moveTo>
                <a:lnTo>
                  <a:pt x="0" y="0"/>
                </a:lnTo>
                <a:lnTo>
                  <a:pt x="0" y="707136"/>
                </a:lnTo>
                <a:lnTo>
                  <a:pt x="9144000" y="707136"/>
                </a:lnTo>
                <a:lnTo>
                  <a:pt x="91440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50820" y="408127"/>
            <a:ext cx="559117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CFFFF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5901" y="2152417"/>
            <a:ext cx="4829175" cy="309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0590" y="6943823"/>
            <a:ext cx="1162684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1016" y="6967740"/>
            <a:ext cx="26606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F0000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144" y="4218432"/>
            <a:ext cx="9144000" cy="2990215"/>
          </a:xfrm>
          <a:custGeom>
            <a:avLst/>
            <a:gdLst/>
            <a:ahLst/>
            <a:cxnLst/>
            <a:rect l="l" t="t" r="r" b="b"/>
            <a:pathLst>
              <a:path w="9144000" h="2990215">
                <a:moveTo>
                  <a:pt x="0" y="2990088"/>
                </a:moveTo>
                <a:lnTo>
                  <a:pt x="9144000" y="2990088"/>
                </a:lnTo>
                <a:lnTo>
                  <a:pt x="9144000" y="0"/>
                </a:lnTo>
                <a:lnTo>
                  <a:pt x="0" y="0"/>
                </a:lnTo>
                <a:lnTo>
                  <a:pt x="0" y="2990088"/>
                </a:lnTo>
                <a:close/>
              </a:path>
            </a:pathLst>
          </a:custGeom>
          <a:solidFill>
            <a:srgbClr val="FFF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71144" y="350520"/>
            <a:ext cx="9144000" cy="6858000"/>
            <a:chOff x="771144" y="350520"/>
            <a:chExt cx="9144000" cy="6858000"/>
          </a:xfrm>
        </p:grpSpPr>
        <p:sp>
          <p:nvSpPr>
            <p:cNvPr id="4" name="object 4"/>
            <p:cNvSpPr/>
            <p:nvPr/>
          </p:nvSpPr>
          <p:spPr>
            <a:xfrm>
              <a:off x="771144" y="350520"/>
              <a:ext cx="9144000" cy="1484630"/>
            </a:xfrm>
            <a:custGeom>
              <a:avLst/>
              <a:gdLst/>
              <a:ahLst/>
              <a:cxnLst/>
              <a:rect l="l" t="t" r="r" b="b"/>
              <a:pathLst>
                <a:path w="9144000" h="1484630">
                  <a:moveTo>
                    <a:pt x="0" y="1484376"/>
                  </a:moveTo>
                  <a:lnTo>
                    <a:pt x="9144000" y="148437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484376"/>
                  </a:lnTo>
                  <a:close/>
                </a:path>
              </a:pathLst>
            </a:custGeom>
            <a:solidFill>
              <a:srgbClr val="FF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1672" y="350520"/>
              <a:ext cx="3697224" cy="810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144" y="350520"/>
              <a:ext cx="9144000" cy="685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" y="350520"/>
              <a:ext cx="3825239" cy="109423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1144" y="1834895"/>
            <a:ext cx="9144000" cy="2237857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lang="en-US" sz="4800" b="1" spc="-10" dirty="0">
                <a:solidFill>
                  <a:srgbClr val="CCFFFF"/>
                </a:solidFill>
                <a:latin typeface="Microsoft JhengHei"/>
                <a:cs typeface="Microsoft JhengHei"/>
              </a:rPr>
              <a:t>H</a:t>
            </a:r>
            <a:r>
              <a:rPr lang="en-US" altLang="zh-CN" sz="4800" b="1" spc="-10" dirty="0">
                <a:solidFill>
                  <a:srgbClr val="CCFFFF"/>
                </a:solidFill>
                <a:latin typeface="Microsoft JhengHei"/>
                <a:cs typeface="Microsoft JhengHei"/>
              </a:rPr>
              <a:t>omework 2</a:t>
            </a:r>
            <a:endParaRPr sz="4800" dirty="0">
              <a:latin typeface="Microsoft JhengHei"/>
              <a:cs typeface="Microsoft JhengHei"/>
            </a:endParaRPr>
          </a:p>
          <a:p>
            <a:pPr marL="1371600" marR="1359535" indent="-635" algn="ctr">
              <a:lnSpc>
                <a:spcPct val="107000"/>
              </a:lnSpc>
              <a:spcBef>
                <a:spcPts val="969"/>
              </a:spcBef>
            </a:pPr>
            <a:r>
              <a:rPr sz="4000" dirty="0">
                <a:solidFill>
                  <a:srgbClr val="CCFFFF"/>
                </a:solidFill>
                <a:latin typeface="Times New Roman"/>
                <a:cs typeface="Times New Roman"/>
              </a:rPr>
              <a:t>Fundamentals</a:t>
            </a:r>
            <a:r>
              <a:rPr sz="4000" spc="-55" dirty="0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sz="4000" spc="-35" dirty="0">
                <a:solidFill>
                  <a:srgbClr val="CCFFFF"/>
                </a:solidFill>
                <a:latin typeface="Times New Roman"/>
                <a:cs typeface="Times New Roman"/>
              </a:rPr>
              <a:t>of </a:t>
            </a:r>
            <a:r>
              <a:rPr sz="4000" dirty="0">
                <a:solidFill>
                  <a:srgbClr val="CCFFFF"/>
                </a:solidFill>
                <a:latin typeface="Times New Roman"/>
                <a:cs typeface="Times New Roman"/>
              </a:rPr>
              <a:t>Computational</a:t>
            </a:r>
            <a:r>
              <a:rPr sz="4000" spc="-70" dirty="0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CCFFFF"/>
                </a:solidFill>
                <a:latin typeface="Times New Roman"/>
                <a:cs typeface="Times New Roman"/>
              </a:rPr>
              <a:t>Fluid</a:t>
            </a:r>
            <a:r>
              <a:rPr sz="4000" spc="-30" dirty="0">
                <a:solidFill>
                  <a:srgbClr val="CC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CCFFFF"/>
                </a:solidFill>
                <a:latin typeface="Times New Roman"/>
                <a:cs typeface="Times New Roman"/>
              </a:rPr>
              <a:t>Dynamics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0188" y="4221728"/>
            <a:ext cx="3105912" cy="5246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0810">
              <a:lnSpc>
                <a:spcPct val="120000"/>
              </a:lnSpc>
              <a:spcBef>
                <a:spcPts val="95"/>
              </a:spcBef>
            </a:pPr>
            <a:r>
              <a:rPr lang="zh-CN" altLang="en-US" sz="3200" b="1" dirty="0">
                <a:latin typeface="SimSun"/>
                <a:cs typeface="SimSun"/>
              </a:rPr>
              <a:t>杨镇宇 邵桂博</a:t>
            </a:r>
            <a:endParaRPr sz="3200" b="1" dirty="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2083" y="428625"/>
            <a:ext cx="37965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① </a:t>
            </a:r>
            <a:r>
              <a:rPr lang="en-US" altLang="zh-CN" spc="-5" dirty="0"/>
              <a:t>Sod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lang="en-US" altLang="zh-SG" spc="-50" smtClean="0"/>
              <a:t>2</a:t>
            </a:fld>
            <a:endParaRPr spc="-5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8776BD-B3F0-20A5-C811-D3B079BC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948" y="3096102"/>
            <a:ext cx="4297326" cy="381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C93078C-FE20-1A4A-6720-01281BF764C8}"/>
              </a:ext>
            </a:extLst>
          </p:cNvPr>
          <p:cNvSpPr txBox="1"/>
          <p:nvPr/>
        </p:nvSpPr>
        <p:spPr>
          <a:xfrm>
            <a:off x="7170613" y="2726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参考答案</a:t>
            </a:r>
            <a:endParaRPr lang="zh-SG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56850B-F55D-3AD8-8E79-51BC3D3DDA51}"/>
              </a:ext>
            </a:extLst>
          </p:cNvPr>
          <p:cNvSpPr txBox="1"/>
          <p:nvPr/>
        </p:nvSpPr>
        <p:spPr>
          <a:xfrm>
            <a:off x="2553663" y="272677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Our Result</a:t>
            </a:r>
            <a:endParaRPr lang="zh-SG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E4CEC4C-2F59-09DB-E1AA-A5E7C9668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00" y="1429092"/>
            <a:ext cx="9105653" cy="89858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63CF340-27EF-23C4-9D25-63D9B6CBF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81" y="3071681"/>
            <a:ext cx="4297326" cy="3818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2083" y="428625"/>
            <a:ext cx="37965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② </a:t>
            </a:r>
            <a:r>
              <a:rPr lang="en-US" altLang="zh-CN" spc="-5" dirty="0"/>
              <a:t>Lax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lang="en-US" altLang="zh-SG" spc="-50" smtClean="0"/>
              <a:t>3</a:t>
            </a:fld>
            <a:endParaRPr spc="-5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93078C-FE20-1A4A-6720-01281BF764C8}"/>
              </a:ext>
            </a:extLst>
          </p:cNvPr>
          <p:cNvSpPr txBox="1"/>
          <p:nvPr/>
        </p:nvSpPr>
        <p:spPr>
          <a:xfrm>
            <a:off x="7170613" y="2726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参考答案</a:t>
            </a:r>
            <a:endParaRPr lang="zh-SG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56850B-F55D-3AD8-8E79-51BC3D3DDA51}"/>
              </a:ext>
            </a:extLst>
          </p:cNvPr>
          <p:cNvSpPr txBox="1"/>
          <p:nvPr/>
        </p:nvSpPr>
        <p:spPr>
          <a:xfrm>
            <a:off x="2553663" y="272677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Our Result</a:t>
            </a:r>
            <a:endParaRPr lang="zh-SG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5A374B-128B-B498-7AE5-E4C10CDD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149110"/>
            <a:ext cx="6618770" cy="16506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D9860-4BF6-8A46-6CEC-E4A784DFF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351" y="3023394"/>
            <a:ext cx="4669098" cy="40456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6B19F2D-75CA-7717-1DDA-B941ED62F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24" y="3023394"/>
            <a:ext cx="4553449" cy="40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7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3691" y="352425"/>
            <a:ext cx="61092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- </a:t>
            </a:r>
            <a:r>
              <a:rPr lang="zh-CN" altLang="en-US" spc="-5" dirty="0"/>
              <a:t>③ 亚声速后退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FD36E1-3F71-14AE-627F-91C273512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93" y="2562225"/>
            <a:ext cx="4009507" cy="3562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9FE024-AD29-486E-F416-DEAE9B237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00" y="2562225"/>
            <a:ext cx="3933825" cy="35623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1B3254B-1DF3-FC20-A17E-FE6C58C53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" y="1275889"/>
            <a:ext cx="4775800" cy="98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0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4101" y="428625"/>
            <a:ext cx="5562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- </a:t>
            </a:r>
            <a:r>
              <a:rPr lang="zh-CN" altLang="en-US" spc="-5" dirty="0"/>
              <a:t>④ </a:t>
            </a:r>
            <a:r>
              <a:rPr lang="en-US" altLang="zh-CN" spc="-5" dirty="0" err="1"/>
              <a:t>Sjogreen</a:t>
            </a:r>
            <a:r>
              <a:rPr lang="zh-CN" altLang="en-US" spc="-5" dirty="0"/>
              <a:t> 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67DCA-263A-EB3D-5CE6-547B80A45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980" y="2824859"/>
            <a:ext cx="4267200" cy="370393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6AF38083-12CC-C3D0-ECAE-3125ED438AC1}"/>
              </a:ext>
            </a:extLst>
          </p:cNvPr>
          <p:cNvSpPr/>
          <p:nvPr/>
        </p:nvSpPr>
        <p:spPr>
          <a:xfrm>
            <a:off x="6261100" y="2824859"/>
            <a:ext cx="838200" cy="3048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9C1DED-0F3C-B04E-C784-383BF251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70" y="1175465"/>
            <a:ext cx="6770710" cy="16255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E8BA82C-4B3B-C384-72E6-0621D00CE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81" y="2823198"/>
            <a:ext cx="4168860" cy="370393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9BE16FB-98ED-C4A1-793C-F81B2E6994BB}"/>
              </a:ext>
            </a:extLst>
          </p:cNvPr>
          <p:cNvSpPr txBox="1"/>
          <p:nvPr/>
        </p:nvSpPr>
        <p:spPr>
          <a:xfrm>
            <a:off x="5907067" y="2453866"/>
            <a:ext cx="400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注意到参考答案的时间是</a:t>
            </a:r>
            <a:r>
              <a:rPr lang="en-US" altLang="zh-CN" dirty="0"/>
              <a:t>Time = 1.5s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56976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22500" y="473509"/>
            <a:ext cx="7239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- </a:t>
            </a:r>
            <a:r>
              <a:rPr lang="zh-CN" altLang="en-US" spc="-5" dirty="0"/>
              <a:t>⑤ </a:t>
            </a:r>
            <a:r>
              <a:rPr lang="en-US" altLang="zh-CN" spc="-5" dirty="0" err="1"/>
              <a:t>Both_Expansion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ED4C56-5F6D-7C0D-8BE0-B12649467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189832"/>
            <a:ext cx="6227165" cy="1524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C97266E-52FD-81D1-E7D1-278E56601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081" y="2701669"/>
            <a:ext cx="4544303" cy="41349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8E0310-23C8-7996-DEEC-1C1E4ED9F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17" y="2713832"/>
            <a:ext cx="4640303" cy="412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8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9100" y="366932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⑥ </a:t>
            </a:r>
            <a:r>
              <a:rPr lang="en-US" altLang="zh-CN" spc="-5" dirty="0" err="1"/>
              <a:t>Both_Shock_Wrong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9F46-47B0-124E-E224-5149E810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300248"/>
            <a:ext cx="6401388" cy="1676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8D3E07-56E1-613F-202E-63C84B27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2976648"/>
            <a:ext cx="4106575" cy="34528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C77762-5AC8-9649-AF64-6118F6D12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25" y="2956847"/>
            <a:ext cx="4175359" cy="350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3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9100" y="366932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⑥ </a:t>
            </a:r>
            <a:r>
              <a:rPr lang="en-US" altLang="zh-CN" spc="-5" dirty="0" err="1"/>
              <a:t>Both_Shock_Wrong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9F46-47B0-124E-E224-5149E810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300248"/>
            <a:ext cx="6401388" cy="1676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38615C-2EBE-1835-2E1A-E3C92ECDE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0" y="3066201"/>
            <a:ext cx="9254684" cy="32278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989138-EDFC-FEE1-9F65-19363CA6D597}"/>
              </a:ext>
            </a:extLst>
          </p:cNvPr>
          <p:cNvSpPr txBox="1"/>
          <p:nvPr/>
        </p:nvSpPr>
        <p:spPr>
          <a:xfrm>
            <a:off x="6032500" y="34120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二分法的缺陷</a:t>
            </a:r>
            <a:endParaRPr lang="zh-SG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62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9100" y="366932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⑥ </a:t>
            </a:r>
            <a:r>
              <a:rPr lang="en-US" altLang="zh-CN" spc="-5" dirty="0" err="1"/>
              <a:t>Both_Shock_Right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9F46-47B0-124E-E224-5149E810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300248"/>
            <a:ext cx="6401388" cy="1676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38615C-2EBE-1835-2E1A-E3C92ECDE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0" y="3066201"/>
            <a:ext cx="9254684" cy="322783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F7D2EF2-A5FA-3885-0F4D-A89FCEA29219}"/>
              </a:ext>
            </a:extLst>
          </p:cNvPr>
          <p:cNvSpPr txBox="1"/>
          <p:nvPr/>
        </p:nvSpPr>
        <p:spPr>
          <a:xfrm>
            <a:off x="6032500" y="34120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二分法的缺陷</a:t>
            </a:r>
            <a:endParaRPr lang="zh-SG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80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EC27BF2-09BF-93ED-D105-CC8726759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68" y="2940051"/>
            <a:ext cx="9603797" cy="3407526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9100" y="366932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⑥ </a:t>
            </a:r>
            <a:r>
              <a:rPr lang="en-US" altLang="zh-CN" spc="-5" dirty="0" err="1"/>
              <a:t>Both_Shock_Right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9F46-47B0-124E-E224-5149E810C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16" y="1215273"/>
            <a:ext cx="6401388" cy="1676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F7D2EF2-A5FA-3885-0F4D-A89FCEA29219}"/>
              </a:ext>
            </a:extLst>
          </p:cNvPr>
          <p:cNvSpPr txBox="1"/>
          <p:nvPr/>
        </p:nvSpPr>
        <p:spPr>
          <a:xfrm>
            <a:off x="6032500" y="34120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二分法的缺陷</a:t>
            </a:r>
            <a:endParaRPr lang="zh-SG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07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9100" y="366932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⑥ </a:t>
            </a:r>
            <a:r>
              <a:rPr lang="en-US" altLang="zh-CN" spc="-5" dirty="0" err="1"/>
              <a:t>Both_Shock_Right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079F46-47B0-124E-E224-5149E810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6" y="1300248"/>
            <a:ext cx="6401388" cy="1676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8D3E07-56E1-613F-202E-63C84B27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3011573"/>
            <a:ext cx="4106575" cy="34528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ACFA5FE-53D2-4D84-053D-B427DE098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2" y="3011572"/>
            <a:ext cx="3910068" cy="347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6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08300" y="428625"/>
            <a:ext cx="731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一</a:t>
            </a:r>
            <a:r>
              <a:rPr dirty="0">
                <a:latin typeface="Times New Roman"/>
                <a:cs typeface="Times New Roman"/>
              </a:rPr>
              <a:t>. </a:t>
            </a:r>
            <a:r>
              <a:rPr lang="zh-CN" altLang="en-US" spc="-5" dirty="0"/>
              <a:t>结果 </a:t>
            </a:r>
            <a:r>
              <a:rPr lang="en-US" altLang="zh-CN" spc="-5" dirty="0"/>
              <a:t>– </a:t>
            </a:r>
            <a:r>
              <a:rPr lang="zh-CN" altLang="en-US" spc="-5" dirty="0"/>
              <a:t>⑦ 接触间断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B20012-B27F-8F94-64C4-F21AC4DC8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26" y="2614930"/>
            <a:ext cx="4261121" cy="39210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693B59C-BB92-45BD-4220-C60F18824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97" y="2614930"/>
            <a:ext cx="4388272" cy="38988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4537F5D-58C2-BE7F-392B-43DD50BF3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48" y="1255323"/>
            <a:ext cx="4777542" cy="104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3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4477" y="366932"/>
            <a:ext cx="61070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二</a:t>
            </a:r>
            <a:r>
              <a:rPr lang="en-US" altLang="zh-CN" dirty="0">
                <a:latin typeface="Times New Roman"/>
                <a:cs typeface="Times New Roman"/>
              </a:rPr>
              <a:t>. Code - </a:t>
            </a:r>
            <a:r>
              <a:rPr lang="zh-CN" altLang="en-US" dirty="0">
                <a:latin typeface="Times New Roman"/>
                <a:cs typeface="Times New Roman"/>
              </a:rPr>
              <a:t> 实现思路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E34714-16CE-FC93-F256-C00F54A1D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1" y="1245831"/>
            <a:ext cx="9277357" cy="569799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F68B3BA-34E5-FDC6-2526-077154EF511C}"/>
              </a:ext>
            </a:extLst>
          </p:cNvPr>
          <p:cNvSpPr txBox="1"/>
          <p:nvPr/>
        </p:nvSpPr>
        <p:spPr>
          <a:xfrm>
            <a:off x="317500" y="594768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本质上是求一个已经有解析解的方程的根</a:t>
            </a:r>
            <a:br>
              <a:rPr lang="en-US" altLang="zh-CN" dirty="0"/>
            </a:br>
            <a:r>
              <a:rPr lang="zh-CN" altLang="en-US" dirty="0"/>
              <a:t>与</a:t>
            </a:r>
            <a:r>
              <a:rPr lang="en-US" altLang="zh-CN" dirty="0"/>
              <a:t>DNS</a:t>
            </a:r>
            <a:r>
              <a:rPr lang="zh-CN" altLang="en-US" dirty="0"/>
              <a:t>还是有很大区别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38738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4477" y="366932"/>
            <a:ext cx="61070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二</a:t>
            </a:r>
            <a:r>
              <a:rPr lang="en-US" altLang="zh-CN" dirty="0">
                <a:latin typeface="Times New Roman"/>
                <a:cs typeface="Times New Roman"/>
              </a:rPr>
              <a:t>. Code - </a:t>
            </a:r>
            <a:r>
              <a:rPr lang="zh-CN" altLang="en-US" dirty="0">
                <a:latin typeface="Times New Roman"/>
                <a:cs typeface="Times New Roman"/>
              </a:rPr>
              <a:t>① 关于函数的描述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180A75-075F-26B4-5472-CD2B79A1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17" y="1114426"/>
            <a:ext cx="9082258" cy="19682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F1138B-4301-D5E7-431F-95859110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675" y="3779813"/>
            <a:ext cx="5734050" cy="1943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C271393-A6AA-D79B-5DF7-00CA4C2C4E7D}"/>
              </a:ext>
            </a:extLst>
          </p:cNvPr>
          <p:cNvSpPr txBox="1"/>
          <p:nvPr/>
        </p:nvSpPr>
        <p:spPr>
          <a:xfrm>
            <a:off x="1765300" y="3243395"/>
            <a:ext cx="7285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注意到 函数在</a:t>
            </a:r>
            <a:r>
              <a:rPr lang="en-US" altLang="zh-CN" dirty="0"/>
              <a:t> p^- = </a:t>
            </a:r>
            <a:r>
              <a:rPr lang="en-US" altLang="zh-CN" dirty="0" err="1"/>
              <a:t>p_j</a:t>
            </a:r>
            <a:r>
              <a:rPr lang="en-US" altLang="zh-CN" dirty="0"/>
              <a:t> </a:t>
            </a:r>
            <a:r>
              <a:rPr lang="zh-CN" altLang="en-US" dirty="0"/>
              <a:t>时连续！</a:t>
            </a:r>
            <a:r>
              <a:rPr lang="en-US" altLang="zh-CN" dirty="0"/>
              <a:t>(</a:t>
            </a:r>
            <a:r>
              <a:rPr lang="zh-CN" altLang="en-US" dirty="0"/>
              <a:t>值为</a:t>
            </a:r>
            <a:r>
              <a:rPr lang="en-US" altLang="zh-CN" dirty="0"/>
              <a:t>0)</a:t>
            </a:r>
            <a:r>
              <a:rPr lang="zh-CN" altLang="en-US" dirty="0"/>
              <a:t>，故函数不用拆分成两部分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889642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7583" y="366932"/>
            <a:ext cx="851011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二</a:t>
            </a:r>
            <a:r>
              <a:rPr lang="en-US" altLang="zh-CN" dirty="0">
                <a:latin typeface="Times New Roman"/>
                <a:cs typeface="Times New Roman"/>
              </a:rPr>
              <a:t>. Code - </a:t>
            </a:r>
            <a:r>
              <a:rPr lang="zh-CN" altLang="en-US" dirty="0">
                <a:latin typeface="Times New Roman"/>
                <a:cs typeface="Times New Roman"/>
              </a:rPr>
              <a:t>② 关于采样区间的</a:t>
            </a:r>
            <a:r>
              <a:rPr lang="en-US" altLang="zh-CN" dirty="0">
                <a:latin typeface="Times New Roman"/>
                <a:cs typeface="Times New Roman"/>
              </a:rPr>
              <a:t>Simple</a:t>
            </a:r>
            <a:r>
              <a:rPr lang="zh-CN" altLang="en-US" dirty="0">
                <a:latin typeface="Times New Roman"/>
                <a:cs typeface="Times New Roman"/>
              </a:rPr>
              <a:t>自适应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45416E-28F3-F8D9-82D8-B99063E4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23"/>
          <a:stretch/>
        </p:blipFill>
        <p:spPr>
          <a:xfrm>
            <a:off x="981424" y="1114425"/>
            <a:ext cx="8730552" cy="2667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B78A8B7-119B-191A-D01F-77B22FDCF9BA}"/>
              </a:ext>
            </a:extLst>
          </p:cNvPr>
          <p:cNvSpPr txBox="1"/>
          <p:nvPr/>
        </p:nvSpPr>
        <p:spPr>
          <a:xfrm>
            <a:off x="962148" y="5379571"/>
            <a:ext cx="7802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朴素的自适应思想，解决由于取不同时间导致需要人工判断采样区间的问题</a:t>
            </a:r>
            <a:endParaRPr lang="en-US" altLang="zh-CN" b="1" dirty="0"/>
          </a:p>
          <a:p>
            <a:r>
              <a:rPr lang="zh-CN" altLang="en-US" b="1" dirty="0"/>
              <a:t>，其实通过跑不同的时间，可以归纳猜测解具有自相似性？</a:t>
            </a:r>
            <a:endParaRPr lang="zh-SG" altLang="en-US" b="1" dirty="0"/>
          </a:p>
        </p:txBody>
      </p:sp>
    </p:spTree>
    <p:extLst>
      <p:ext uri="{BB962C8B-B14F-4D97-AF65-F5344CB8AC3E}">
        <p14:creationId xmlns:p14="http://schemas.microsoft.com/office/powerpoint/2010/main" val="4252717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7583" y="366932"/>
            <a:ext cx="851011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二</a:t>
            </a:r>
            <a:r>
              <a:rPr lang="en-US" altLang="zh-CN" dirty="0">
                <a:latin typeface="Times New Roman"/>
                <a:cs typeface="Times New Roman"/>
              </a:rPr>
              <a:t>. Code - </a:t>
            </a:r>
            <a:r>
              <a:rPr lang="zh-CN" altLang="en-US" dirty="0">
                <a:latin typeface="Times New Roman"/>
                <a:cs typeface="Times New Roman"/>
              </a:rPr>
              <a:t>② 关于采样区间的</a:t>
            </a:r>
            <a:r>
              <a:rPr lang="en-US" altLang="zh-CN" dirty="0">
                <a:latin typeface="Times New Roman"/>
                <a:cs typeface="Times New Roman"/>
              </a:rPr>
              <a:t>Simple</a:t>
            </a:r>
            <a:r>
              <a:rPr lang="zh-CN" altLang="en-US" dirty="0">
                <a:latin typeface="Times New Roman"/>
                <a:cs typeface="Times New Roman"/>
              </a:rPr>
              <a:t>自适应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967D3A-7BF1-2A18-5A5A-573213F1F7B2}"/>
              </a:ext>
            </a:extLst>
          </p:cNvPr>
          <p:cNvSpPr txBox="1"/>
          <p:nvPr/>
        </p:nvSpPr>
        <p:spPr>
          <a:xfrm>
            <a:off x="962148" y="5379571"/>
            <a:ext cx="7802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朴素的自适应思想，解决由于取不同时间导致需要人工判断采样区间的问题</a:t>
            </a:r>
            <a:endParaRPr lang="en-US" altLang="zh-CN" b="1" dirty="0"/>
          </a:p>
          <a:p>
            <a:r>
              <a:rPr lang="zh-CN" altLang="en-US" b="1" dirty="0"/>
              <a:t>，其实通过跑不同的时间，可以归纳猜测解具有自相似性？</a:t>
            </a:r>
            <a:endParaRPr lang="zh-SG" altLang="en-US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B02DEA-8BB3-2B28-AAA5-26C29F96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784" y="1112510"/>
            <a:ext cx="3729490" cy="32785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C14510-E760-2423-D153-8AC5E7A40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74" y="1112510"/>
            <a:ext cx="3886200" cy="33299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710263-E7BB-9E9D-86D5-FBAE22A1D1B1}"/>
              </a:ext>
            </a:extLst>
          </p:cNvPr>
          <p:cNvSpPr txBox="1"/>
          <p:nvPr/>
        </p:nvSpPr>
        <p:spPr>
          <a:xfrm>
            <a:off x="4193881" y="4437733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Time = 1</a:t>
            </a:r>
            <a:endParaRPr lang="zh-SG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D46894-085B-6D06-BC3F-EB46C63FEFD9}"/>
              </a:ext>
            </a:extLst>
          </p:cNvPr>
          <p:cNvSpPr txBox="1"/>
          <p:nvPr/>
        </p:nvSpPr>
        <p:spPr>
          <a:xfrm>
            <a:off x="7969994" y="4437733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Time = 3</a:t>
            </a:r>
            <a:endParaRPr lang="zh-SG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E5C7110-F12C-83AF-1D7C-EE89073F6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41222" y="1112509"/>
            <a:ext cx="3683006" cy="327851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2D9B442-3D35-37DD-2FF7-FAB3127191D5}"/>
              </a:ext>
            </a:extLst>
          </p:cNvPr>
          <p:cNvSpPr txBox="1"/>
          <p:nvPr/>
        </p:nvSpPr>
        <p:spPr>
          <a:xfrm>
            <a:off x="791016" y="441602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Time = 0.5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96679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68300" y="392545"/>
            <a:ext cx="851011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                          二</a:t>
            </a:r>
            <a:r>
              <a:rPr lang="en-US" altLang="zh-CN" dirty="0">
                <a:latin typeface="Times New Roman"/>
                <a:cs typeface="Times New Roman"/>
              </a:rPr>
              <a:t>. Code – </a:t>
            </a:r>
            <a:r>
              <a:rPr lang="zh-CN" altLang="en-US" dirty="0">
                <a:latin typeface="Times New Roman"/>
                <a:cs typeface="Times New Roman"/>
              </a:rPr>
              <a:t>③ 一些关键细节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17</a:t>
            </a:fld>
            <a:endParaRPr spc="-5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E6A120-2B30-B0F7-FC7E-FE40F62D61F9}"/>
              </a:ext>
            </a:extLst>
          </p:cNvPr>
          <p:cNvSpPr txBox="1"/>
          <p:nvPr/>
        </p:nvSpPr>
        <p:spPr>
          <a:xfrm>
            <a:off x="1082481" y="1266825"/>
            <a:ext cx="8682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① 真空解需要单独讨论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因为真空解的稀疏波波尾速度是独特的</a:t>
            </a:r>
            <a:endParaRPr lang="zh-SG" altLang="en-US" sz="2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09442E-3217-71DB-D90D-C7FD431DC4A5}"/>
              </a:ext>
            </a:extLst>
          </p:cNvPr>
          <p:cNvSpPr txBox="1"/>
          <p:nvPr/>
        </p:nvSpPr>
        <p:spPr>
          <a:xfrm>
            <a:off x="1095181" y="2035948"/>
            <a:ext cx="6155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②稀疏波局部速度</a:t>
            </a:r>
            <a:r>
              <a:rPr lang="en-US" altLang="zh-CN" sz="2400" b="1" dirty="0"/>
              <a:t>u(</a:t>
            </a:r>
            <a:r>
              <a:rPr lang="en-US" altLang="zh-CN" sz="2400" b="1" dirty="0" err="1"/>
              <a:t>x,t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计算公式的程序依据</a:t>
            </a:r>
            <a:endParaRPr lang="zh-SG" altLang="en-US" sz="2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232EF7E-4E48-DD3C-8804-087715E95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37" y="2489676"/>
            <a:ext cx="8960125" cy="289992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16362E6-C33C-CFFF-20CB-DD0E13310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502"/>
          <a:stretch/>
        </p:blipFill>
        <p:spPr>
          <a:xfrm>
            <a:off x="828826" y="5456255"/>
            <a:ext cx="9035746" cy="138905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A4558F8-3095-8BF2-3472-426004572B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137" b="8942"/>
          <a:stretch/>
        </p:blipFill>
        <p:spPr>
          <a:xfrm>
            <a:off x="1239740" y="6929529"/>
            <a:ext cx="5866733" cy="2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3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4477" y="366932"/>
            <a:ext cx="61070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Times New Roman"/>
                <a:cs typeface="Times New Roman"/>
              </a:rPr>
              <a:t>二</a:t>
            </a:r>
            <a:r>
              <a:rPr lang="en-US" altLang="zh-CN" dirty="0">
                <a:latin typeface="Times New Roman"/>
                <a:cs typeface="Times New Roman"/>
              </a:rPr>
              <a:t>. Code - </a:t>
            </a:r>
            <a:r>
              <a:rPr lang="zh-CN" altLang="en-US" dirty="0">
                <a:latin typeface="Times New Roman"/>
                <a:cs typeface="Times New Roman"/>
              </a:rPr>
              <a:t>④ 交互界面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0E64D1-EC18-3F6D-354C-E87F6DF0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22" r="45252"/>
          <a:stretch/>
        </p:blipFill>
        <p:spPr>
          <a:xfrm>
            <a:off x="2755900" y="933754"/>
            <a:ext cx="5485423" cy="66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3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4477" y="366932"/>
            <a:ext cx="61070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		</a:t>
            </a:r>
            <a:r>
              <a:rPr lang="zh-CN" altLang="en-US" spc="-5" dirty="0"/>
              <a:t>三</a:t>
            </a:r>
            <a:r>
              <a:rPr lang="en-US" altLang="zh-CN" spc="-5" dirty="0"/>
              <a:t>. Final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pc="-10" dirty="0"/>
              <a:t>CFD@XJTU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75"/>
              </a:lnSpc>
            </a:pPr>
            <a:fld id="{81D60167-4931-47E6-BA6A-407CBD079E47}" type="slidenum">
              <a:rPr spc="-50" dirty="0"/>
              <a:t>19</a:t>
            </a:fld>
            <a:endParaRPr spc="-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F0C187-6CA1-D21A-22C9-AE43BFF1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602" y="1190625"/>
            <a:ext cx="6196988" cy="2057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F968167-8AB8-978D-ECC8-658FC7718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3216677"/>
            <a:ext cx="9412357" cy="2057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97506C3-2CF5-CD5E-7C14-35F627ECFFB9}"/>
              </a:ext>
            </a:extLst>
          </p:cNvPr>
          <p:cNvSpPr txBox="1"/>
          <p:nvPr/>
        </p:nvSpPr>
        <p:spPr>
          <a:xfrm>
            <a:off x="4526574" y="5274077"/>
            <a:ext cx="534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SG" altLang="en-US" dirty="0"/>
              <a:t>https://github.com/vcFluid/01_C_ASM_Engine.git</a:t>
            </a:r>
          </a:p>
        </p:txBody>
      </p:sp>
    </p:spTree>
    <p:extLst>
      <p:ext uri="{BB962C8B-B14F-4D97-AF65-F5344CB8AC3E}">
        <p14:creationId xmlns:p14="http://schemas.microsoft.com/office/powerpoint/2010/main" val="1297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</TotalTime>
  <Words>433</Words>
  <Application>Microsoft Office PowerPoint</Application>
  <PresentationFormat>自定义</PresentationFormat>
  <Paragraphs>77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JhengHei</vt:lpstr>
      <vt:lpstr>SimSun</vt:lpstr>
      <vt:lpstr>Times New Roman</vt:lpstr>
      <vt:lpstr>Office Theme</vt:lpstr>
      <vt:lpstr>PowerPoint 演示文稿</vt:lpstr>
      <vt:lpstr>一. 结果 ① Sod</vt:lpstr>
      <vt:lpstr>一. 结果 ② Lax</vt:lpstr>
      <vt:lpstr>一. 结果 - ③ 亚声速后退</vt:lpstr>
      <vt:lpstr>一. 结果 - ④ Sjogreen </vt:lpstr>
      <vt:lpstr>一. 结果 - ⑤ Both_Expansion</vt:lpstr>
      <vt:lpstr>一. 结果 – ⑥ Both_Shock_Wrong</vt:lpstr>
      <vt:lpstr>一. 结果 – ⑥ Both_Shock_Wrong</vt:lpstr>
      <vt:lpstr>一. 结果 – ⑥ Both_Shock_Right</vt:lpstr>
      <vt:lpstr>一. 结果 – ⑥ Both_Shock_Right</vt:lpstr>
      <vt:lpstr>一. 结果 – ⑥ Both_Shock_Right</vt:lpstr>
      <vt:lpstr>一. 结果 – ⑦ 接触间断</vt:lpstr>
      <vt:lpstr>二. Code -  实现思路</vt:lpstr>
      <vt:lpstr>二. Code - ① 关于函数的描述</vt:lpstr>
      <vt:lpstr>二. Code - ② 关于采样区间的Simple自适应</vt:lpstr>
      <vt:lpstr>二. Code - ② 关于采样区间的Simple自适应</vt:lpstr>
      <vt:lpstr>                          二. Code – ③ 一些关键细节</vt:lpstr>
      <vt:lpstr>二. Code - ④ 交互界面</vt:lpstr>
      <vt:lpstr>  三.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Fluid</cp:lastModifiedBy>
  <cp:revision>96</cp:revision>
  <dcterms:created xsi:type="dcterms:W3CDTF">2026-05-20T19:48:54Z</dcterms:created>
  <dcterms:modified xsi:type="dcterms:W3CDTF">2026-05-21T10:24:00Z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2026-05-08T00:00:00Z</vt:filetime>
  </property>
  <property fmtid="{D5CDD505-2E9C-101B-9397-08002B2CF9AE}" pid="4" name="LastSaved">
    <vt:filetime>2026-05-20T00:00:00Z</vt:filetime>
  </property>
  <property fmtid="{D5CDD505-2E9C-101B-9397-08002B2CF9AE}" pid="5" name="Producer">
    <vt:lpwstr>福昕阅读器PDF打印机 版本 13.9.110.6010</vt:lpwstr>
  </property>
</Properties>
</file>